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2" Type="http://schemas.openxmlformats.org/officeDocument/2006/relationships/font" Target="fonts/Raleway-boldItalic.fntdata"/><Relationship Id="rId9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b36b3e08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b36b3e08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b36b3e08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b36b3e08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b36b3e08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b36b3e08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92733" y="35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800"/>
              <a:t>Cost of Living Snapshot: Urban vs Rural Africa</a:t>
            </a:r>
            <a:endParaRPr b="1"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Screenshot 2026-02-25 at 22.27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450" y="1132650"/>
            <a:ext cx="5250324" cy="34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276200" y="213025"/>
            <a:ext cx="659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Rockwell"/>
                <a:ea typeface="Rockwell"/>
                <a:cs typeface="Rockwell"/>
                <a:sym typeface="Rockwell"/>
              </a:rPr>
              <a:t>Data Summary + Visual Snapshot</a:t>
            </a:r>
            <a:endParaRPr b="1" sz="30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3825" y="1243375"/>
            <a:ext cx="3151500" cy="3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ckwell"/>
              <a:buChar char="●"/>
            </a:pPr>
            <a:r>
              <a:rPr lang="en-GB" sz="1300">
                <a:latin typeface="Rockwell"/>
                <a:ea typeface="Rockwell"/>
                <a:cs typeface="Rockwell"/>
                <a:sym typeface="Rockwell"/>
              </a:rPr>
              <a:t>5,786 homes in 9 African countries</a:t>
            </a:r>
            <a:endParaRPr sz="1300"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ckwell"/>
              <a:buChar char="●"/>
            </a:pPr>
            <a:r>
              <a:rPr lang="en-GB" sz="1300">
                <a:latin typeface="Rockwell"/>
                <a:ea typeface="Rockwell"/>
                <a:cs typeface="Rockwell"/>
                <a:sym typeface="Rockwell"/>
              </a:rPr>
              <a:t>Information about people, income, spending, savings, and access</a:t>
            </a:r>
            <a:endParaRPr sz="1300"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ckwell"/>
              <a:buChar char="●"/>
            </a:pPr>
            <a:r>
              <a:rPr lang="en-GB" sz="1300">
                <a:latin typeface="Rockwell"/>
                <a:ea typeface="Rockwell"/>
                <a:cs typeface="Rockwell"/>
                <a:sym typeface="Rockwell"/>
              </a:rPr>
              <a:t>Financial Stress Index (0–1 scale) to measure risk</a:t>
            </a:r>
            <a:endParaRPr sz="1300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500">
                <a:latin typeface="Rockwell"/>
                <a:ea typeface="Rockwell"/>
                <a:cs typeface="Rockwell"/>
                <a:sym typeface="Rockwell"/>
              </a:rPr>
              <a:t>Key Highlights:</a:t>
            </a:r>
            <a:endParaRPr b="1" sz="1500"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Font typeface="Rockwell"/>
              <a:buChar char="●"/>
            </a:pPr>
            <a:r>
              <a:rPr lang="en-GB" sz="1300">
                <a:latin typeface="Rockwell"/>
                <a:ea typeface="Rockwell"/>
                <a:cs typeface="Rockwell"/>
                <a:sym typeface="Rockwell"/>
              </a:rPr>
              <a:t>City homes earn more money (161 vs 121 USD on average)</a:t>
            </a:r>
            <a:endParaRPr sz="1300"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ckwell"/>
              <a:buChar char="●"/>
            </a:pPr>
            <a:r>
              <a:rPr lang="en-GB" sz="1300">
                <a:latin typeface="Rockwell"/>
                <a:ea typeface="Rockwell"/>
                <a:cs typeface="Rockwell"/>
                <a:sym typeface="Rockwell"/>
              </a:rPr>
              <a:t>Mobile money users save more than double (13% vs 6%)</a:t>
            </a:r>
            <a:endParaRPr sz="1300">
              <a:latin typeface="Rockwell"/>
              <a:ea typeface="Rockwell"/>
              <a:cs typeface="Rockwell"/>
              <a:sym typeface="Rockwel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Rockwell"/>
              <a:buChar char="●"/>
            </a:pPr>
            <a:r>
              <a:rPr lang="en-GB" sz="1300">
                <a:latin typeface="Rockwell"/>
                <a:ea typeface="Rockwell"/>
                <a:cs typeface="Rockwell"/>
                <a:sym typeface="Rockwell"/>
              </a:rPr>
              <a:t>Food makes up about 40% of what families spend on average.</a:t>
            </a:r>
            <a:endParaRPr sz="1300"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898950" y="456375"/>
            <a:ext cx="73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Rockwell"/>
                <a:ea typeface="Rockwell"/>
                <a:cs typeface="Rockwell"/>
                <a:sym typeface="Rockwell"/>
              </a:rPr>
              <a:t>Key Insights &amp; Implications for Financial Institution</a:t>
            </a:r>
            <a:endParaRPr b="1" sz="20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79400" y="1357800"/>
            <a:ext cx="8785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>
                <a:latin typeface="Rockwell"/>
                <a:ea typeface="Rockwell"/>
                <a:cs typeface="Rockwell"/>
                <a:sym typeface="Rockwell"/>
              </a:rPr>
              <a:t>Insight 1: Urban Cost Pressure  </a:t>
            </a:r>
            <a:endParaRPr b="1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latin typeface="Rockwell"/>
                <a:ea typeface="Rockwell"/>
                <a:cs typeface="Rockwell"/>
                <a:sym typeface="Rockwell"/>
              </a:rPr>
              <a:t>People in cities earn more money, but they also spend a lot. This leaves them with less to save.  </a:t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latin typeface="Rockwell"/>
                <a:ea typeface="Rockwell"/>
                <a:cs typeface="Rockwell"/>
                <a:sym typeface="Rockwell"/>
              </a:rPr>
              <a:t>Implication: Earning more won't help families be financially stable if they do not manage their costs.</a:t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>
                <a:latin typeface="Rockwell"/>
                <a:ea typeface="Rockwell"/>
                <a:cs typeface="Rockwell"/>
                <a:sym typeface="Rockwell"/>
              </a:rPr>
              <a:t>Insight 2: Food-Dominated Budgets  </a:t>
            </a:r>
            <a:endParaRPr b="1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latin typeface="Rockwell"/>
                <a:ea typeface="Rockwell"/>
                <a:cs typeface="Rockwell"/>
                <a:sym typeface="Rockwell"/>
              </a:rPr>
              <a:t>Almost 40% of household spending goes on food. This means they have little extra money.  </a:t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latin typeface="Rockwell"/>
                <a:ea typeface="Rockwell"/>
                <a:cs typeface="Rockwell"/>
                <a:sym typeface="Rockwell"/>
              </a:rPr>
              <a:t>Implication: Families, especially in rural areas, face risks if food prices rise.</a:t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>
                <a:latin typeface="Rockwell"/>
                <a:ea typeface="Rockwell"/>
                <a:cs typeface="Rockwell"/>
                <a:sym typeface="Rockwell"/>
              </a:rPr>
              <a:t>Insight 3: Mobile Money &amp; Savings  </a:t>
            </a:r>
            <a:endParaRPr b="1"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latin typeface="Rockwell"/>
                <a:ea typeface="Rockwell"/>
                <a:cs typeface="Rockwell"/>
                <a:sym typeface="Rockwell"/>
              </a:rPr>
              <a:t>Households that use mobile money save much more—13% compared to 6%.  </a:t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latin typeface="Rockwell"/>
                <a:ea typeface="Rockwell"/>
                <a:cs typeface="Rockwell"/>
                <a:sym typeface="Rockwell"/>
              </a:rPr>
              <a:t>Implication: Improving access to mobile financial services could help families save more and be more stable.</a:t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>
                <a:latin typeface="Rockwell"/>
                <a:ea typeface="Rockwell"/>
                <a:cs typeface="Rockwell"/>
                <a:sym typeface="Rockwell"/>
              </a:rPr>
              <a:t>Boosting digital financial access along with income support can help African families be more financially secure.</a:t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